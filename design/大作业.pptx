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306" r:id="rId3"/>
    <p:sldId id="257" r:id="rId4"/>
    <p:sldId id="258" r:id="rId5"/>
    <p:sldId id="262" r:id="rId6"/>
    <p:sldId id="307" r:id="rId7"/>
    <p:sldId id="259" r:id="rId8"/>
    <p:sldId id="308" r:id="rId9"/>
    <p:sldId id="309" r:id="rId10"/>
    <p:sldId id="310" r:id="rId11"/>
    <p:sldId id="311" r:id="rId12"/>
    <p:sldId id="260" r:id="rId13"/>
    <p:sldId id="312" r:id="rId14"/>
    <p:sldId id="261" r:id="rId15"/>
    <p:sldId id="313" r:id="rId16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5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46A"/>
    <a:srgbClr val="FF0000"/>
    <a:srgbClr val="1C4885"/>
    <a:srgbClr val="20B3A1"/>
    <a:srgbClr val="D6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9" autoAdjust="0"/>
    <p:restoredTop sz="96314" autoAdjust="0"/>
  </p:normalViewPr>
  <p:slideViewPr>
    <p:cSldViewPr snapToGrid="0" showGuides="1">
      <p:cViewPr varScale="1">
        <p:scale>
          <a:sx n="117" d="100"/>
          <a:sy n="117" d="100"/>
        </p:scale>
        <p:origin x="245" y="82"/>
      </p:cViewPr>
      <p:guideLst>
        <p:guide orient="horz" pos="125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8B725A-BFDD-44D0-A8D3-61766B07B7F1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C932-0C1F-4C94-8B9A-3944ABBB4E3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6F278-ABF0-48CA-ADF0-1D43CCA8A181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://www.cbsr.ia.ac.cn/english/CASIA-WebFace-Database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hyperlink" Target="http://vis-www.cs.umass.edu/lfw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45805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984658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403122" y="405580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tx1">
                <a:alpha val="3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38238" y="2571605"/>
            <a:ext cx="109912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深度学习人脸识别实践作业</a:t>
            </a:r>
          </a:p>
        </p:txBody>
      </p:sp>
      <p:cxnSp>
        <p:nvCxnSpPr>
          <p:cNvPr id="18" name="直接连接符 17"/>
          <p:cNvCxnSpPr/>
          <p:nvPr/>
        </p:nvCxnSpPr>
        <p:spPr>
          <a:xfrm>
            <a:off x="5401597" y="3738717"/>
            <a:ext cx="138880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557385" y="768087"/>
            <a:ext cx="816082" cy="749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65729" y="492780"/>
            <a:ext cx="2203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0" i="0" dirty="0">
                <a:solidFill>
                  <a:srgbClr val="333333"/>
                </a:solidFill>
                <a:effectLst/>
                <a:latin typeface="Trebuchet MS" panose="020B0603020202020204" pitchFamily="34" charset="0"/>
              </a:rPr>
              <a:t>作业目标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85985" y="365486"/>
            <a:ext cx="816082" cy="7498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317903" y="1719814"/>
            <a:ext cx="6097022" cy="1709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掌握人脸识别任务的基本流程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熟悉经典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CNN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模型的构建与应用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学会跨数据集的模型训练与测试方法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理解模型评估的核心指标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88709" y="5737122"/>
            <a:ext cx="3957485" cy="825909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45804" y="294968"/>
            <a:ext cx="3957485" cy="825909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03122" y="462099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tx1">
                <a:alpha val="3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908282" y="1533116"/>
            <a:ext cx="2325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dirty="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目录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08283" y="1152768"/>
            <a:ext cx="2325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000" dirty="0">
                <a:solidFill>
                  <a:srgbClr val="1C4885"/>
                </a:solidFill>
                <a:latin typeface="FuturaBookC" charset="-52"/>
                <a:ea typeface="微软雅黑" panose="020B0503020204020204" pitchFamily="34" charset="-122"/>
              </a:rPr>
              <a:t>CONTENT</a:t>
            </a:r>
            <a:endParaRPr lang="zh-CN" altLang="en-US" sz="2000" dirty="0">
              <a:solidFill>
                <a:srgbClr val="1C4885"/>
              </a:solidFill>
              <a:latin typeface="FuturaBookC" charset="-5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908283" y="3112512"/>
            <a:ext cx="643774" cy="643774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FuturaBookC" charset="-52"/>
              </a:rPr>
              <a:t>01</a:t>
            </a:r>
            <a:endParaRPr lang="zh-CN" altLang="en-US" sz="1200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672779" y="3203068"/>
            <a:ext cx="3701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b="1" dirty="0">
                <a:latin typeface="+mj-ea"/>
                <a:ea typeface="+mj-ea"/>
              </a:rPr>
              <a:t> 数据集说明</a:t>
            </a:r>
          </a:p>
        </p:txBody>
      </p:sp>
      <p:sp>
        <p:nvSpPr>
          <p:cNvPr id="12" name="椭圆 11"/>
          <p:cNvSpPr/>
          <p:nvPr/>
        </p:nvSpPr>
        <p:spPr>
          <a:xfrm>
            <a:off x="6495346" y="3112512"/>
            <a:ext cx="643774" cy="643774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FuturaBookC" charset="-52"/>
              </a:rPr>
              <a:t>02</a:t>
            </a:r>
            <a:endParaRPr lang="zh-CN" altLang="en-US" sz="1200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263581" y="3198167"/>
            <a:ext cx="3701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b="1" dirty="0">
                <a:latin typeface="+mj-ea"/>
                <a:ea typeface="+mj-ea"/>
              </a:rPr>
              <a:t>核心任务分解</a:t>
            </a:r>
          </a:p>
        </p:txBody>
      </p:sp>
      <p:sp>
        <p:nvSpPr>
          <p:cNvPr id="15" name="椭圆 14"/>
          <p:cNvSpPr/>
          <p:nvPr/>
        </p:nvSpPr>
        <p:spPr>
          <a:xfrm>
            <a:off x="1908283" y="4355250"/>
            <a:ext cx="643774" cy="643774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FuturaBookC" charset="-52"/>
              </a:rPr>
              <a:t>03</a:t>
            </a:r>
            <a:endParaRPr lang="zh-CN" altLang="en-US" sz="1200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46521" y="4446304"/>
            <a:ext cx="2359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b="1" dirty="0">
                <a:latin typeface="+mj-ea"/>
                <a:ea typeface="+mj-ea"/>
              </a:rPr>
              <a:t>评估标准</a:t>
            </a:r>
          </a:p>
        </p:txBody>
      </p:sp>
      <p:sp>
        <p:nvSpPr>
          <p:cNvPr id="18" name="椭圆 17"/>
          <p:cNvSpPr/>
          <p:nvPr/>
        </p:nvSpPr>
        <p:spPr>
          <a:xfrm>
            <a:off x="6495346" y="4355250"/>
            <a:ext cx="643774" cy="643774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FuturaBookC" charset="-52"/>
              </a:rPr>
              <a:t>04</a:t>
            </a:r>
            <a:endParaRPr lang="zh-CN" altLang="en-US" sz="1200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296438" y="4446304"/>
            <a:ext cx="3701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b="1" dirty="0">
                <a:latin typeface="+mj-ea"/>
                <a:ea typeface="+mj-ea"/>
              </a:rPr>
              <a:t>汇报要求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557385" y="768087"/>
            <a:ext cx="816082" cy="749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03122" y="44982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rgbClr val="02615A">
                <a:alpha val="3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887301" y="2420811"/>
            <a:ext cx="1592179" cy="1592179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chemeClr val="bg1"/>
                </a:solidFill>
                <a:latin typeface="FuturaBookC" charset="-52"/>
              </a:rPr>
              <a:t>1</a:t>
            </a:r>
            <a:endParaRPr lang="zh-CN" altLang="en-US" sz="13800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10385" y="2420811"/>
            <a:ext cx="41209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dirty="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 数据集说明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4663554" y="3428999"/>
            <a:ext cx="111240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557385" y="768087"/>
            <a:ext cx="816082" cy="749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04650" y="500736"/>
            <a:ext cx="4753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i="0" dirty="0">
                <a:solidFill>
                  <a:srgbClr val="444444"/>
                </a:solidFill>
                <a:effectLst/>
                <a:latin typeface="Trebuchet MS" panose="020B0603020202020204" pitchFamily="34" charset="0"/>
              </a:rPr>
              <a:t>训练集：</a:t>
            </a:r>
            <a:r>
              <a:rPr lang="en-US" altLang="zh-CN" sz="2800" b="1" i="0" dirty="0">
                <a:solidFill>
                  <a:srgbClr val="444444"/>
                </a:solidFill>
                <a:effectLst/>
                <a:latin typeface="Trebuchet MS" panose="020B0603020202020204" pitchFamily="34" charset="0"/>
              </a:rPr>
              <a:t>CASIA-</a:t>
            </a:r>
            <a:r>
              <a:rPr lang="en-US" altLang="zh-CN" sz="2800" b="1" i="0" dirty="0" err="1">
                <a:solidFill>
                  <a:srgbClr val="444444"/>
                </a:solidFill>
                <a:effectLst/>
                <a:latin typeface="Trebuchet MS" panose="020B0603020202020204" pitchFamily="34" charset="0"/>
              </a:rPr>
              <a:t>WebFace</a:t>
            </a:r>
            <a:endParaRPr lang="en-US" altLang="zh-CN" sz="2800" b="1" i="0" dirty="0">
              <a:solidFill>
                <a:srgbClr val="444444"/>
              </a:solidFill>
              <a:effectLst/>
              <a:latin typeface="Trebuchet MS" panose="020B0603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85985" y="365486"/>
            <a:ext cx="816082" cy="7498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96413" y="1971202"/>
            <a:ext cx="6097022" cy="2252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数据量：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10,575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人共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494,414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张图像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特点：多姿态、多光照条件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44444"/>
                </a:solidFill>
                <a:latin typeface="Verdana" panose="020B0604030504040204" pitchFamily="34" charset="0"/>
              </a:rPr>
              <a:t>官方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地址：</a:t>
            </a:r>
            <a:r>
              <a:rPr lang="en-US" altLang="zh-CN" b="0" i="0" u="none" strike="noStrike" dirty="0">
                <a:solidFill>
                  <a:srgbClr val="009A61"/>
                </a:solidFill>
                <a:effectLst/>
                <a:latin typeface="Verdana" panose="020B0604030504040204" pitchFamily="34" charset="0"/>
                <a:hlinkClick r:id="rId4"/>
              </a:rPr>
              <a:t>http://www.cbsr.ia.ac.cn/english/CASIA-WebFace-Database.html</a:t>
            </a:r>
            <a:endParaRPr lang="en-US" altLang="zh-CN" b="0" i="0" dirty="0">
              <a:solidFill>
                <a:srgbClr val="444444"/>
              </a:solidFill>
              <a:effectLst/>
              <a:latin typeface="Verdana" panose="020B060403050404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1658" y="1223240"/>
            <a:ext cx="943356" cy="230598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6393" y="3637151"/>
            <a:ext cx="4839017" cy="28553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04650" y="365486"/>
            <a:ext cx="47538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i="0" dirty="0">
                <a:solidFill>
                  <a:srgbClr val="444444"/>
                </a:solidFill>
                <a:effectLst/>
                <a:latin typeface="Trebuchet MS" panose="020B0603020202020204" pitchFamily="34" charset="0"/>
              </a:rPr>
              <a:t>测试集：</a:t>
            </a:r>
            <a:r>
              <a:rPr lang="en-US" altLang="zh-CN" sz="2800" b="1" i="0" dirty="0">
                <a:solidFill>
                  <a:srgbClr val="444444"/>
                </a:solidFill>
                <a:effectLst/>
                <a:latin typeface="Trebuchet MS" panose="020B0603020202020204" pitchFamily="34" charset="0"/>
              </a:rPr>
              <a:t>LFW</a:t>
            </a:r>
            <a:r>
              <a:rPr lang="zh-CN" altLang="en-US" sz="2800" b="1" i="0" dirty="0">
                <a:solidFill>
                  <a:srgbClr val="444444"/>
                </a:solidFill>
                <a:effectLst/>
                <a:latin typeface="Trebuchet MS" panose="020B0603020202020204" pitchFamily="34" charset="0"/>
              </a:rPr>
              <a:t>（</a:t>
            </a:r>
            <a:r>
              <a:rPr lang="en-US" altLang="zh-CN" sz="2800" b="1" i="0" dirty="0">
                <a:solidFill>
                  <a:srgbClr val="444444"/>
                </a:solidFill>
                <a:effectLst/>
                <a:latin typeface="Trebuchet MS" panose="020B0603020202020204" pitchFamily="34" charset="0"/>
              </a:rPr>
              <a:t>Labeled Faces in the Wild</a:t>
            </a:r>
            <a:r>
              <a:rPr lang="zh-CN" altLang="en-US" sz="2800" b="1" i="0" dirty="0">
                <a:solidFill>
                  <a:srgbClr val="444444"/>
                </a:solidFill>
                <a:effectLst/>
                <a:latin typeface="Trebuchet MS" panose="020B0603020202020204" pitchFamily="34" charset="0"/>
              </a:rPr>
              <a:t>）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85985" y="365486"/>
            <a:ext cx="816082" cy="7498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96413" y="1971202"/>
            <a:ext cx="6097022" cy="2228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数据量：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5,749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人共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13,233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张图像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特点：自然场景下的非约束人脸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官方地址：</a:t>
            </a:r>
            <a:r>
              <a:rPr lang="en-US" altLang="zh-CN" b="0" i="0" u="none" strike="noStrike" dirty="0">
                <a:solidFill>
                  <a:srgbClr val="009A61"/>
                </a:solidFill>
                <a:effectLst/>
                <a:latin typeface="Verdana" panose="020B0604030504040204" pitchFamily="34" charset="0"/>
                <a:hlinkClick r:id="rId4"/>
              </a:rPr>
              <a:t>http://vis-www.cs.umass.edu/lfw/</a:t>
            </a:r>
            <a:endParaRPr lang="en-US" altLang="zh-CN" b="0" i="0" u="none" strike="noStrike" dirty="0">
              <a:solidFill>
                <a:srgbClr val="009A61"/>
              </a:solidFill>
              <a:effectLst/>
              <a:latin typeface="Verdana" panose="020B060403050404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要求使用官方提供的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6000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对人脸对测试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88" y="1578386"/>
            <a:ext cx="1324510" cy="164849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588" y="1675206"/>
            <a:ext cx="1219200" cy="12192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688" y="3429000"/>
            <a:ext cx="4625982" cy="29873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03122" y="44982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rgbClr val="02615A">
                <a:alpha val="3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887301" y="2420811"/>
            <a:ext cx="1592179" cy="1592179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chemeClr val="bg1"/>
                </a:solidFill>
                <a:latin typeface="FuturaBookC" charset="-52"/>
              </a:rPr>
              <a:t>2</a:t>
            </a:r>
            <a:endParaRPr lang="zh-CN" altLang="en-US" sz="13800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76985" y="2420811"/>
            <a:ext cx="57603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dirty="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核心任务分解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4663554" y="3428999"/>
            <a:ext cx="111240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557385" y="768455"/>
            <a:ext cx="816082" cy="7490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23060" y="511715"/>
            <a:ext cx="4753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i="0" dirty="0">
                <a:solidFill>
                  <a:srgbClr val="444444"/>
                </a:solidFill>
                <a:effectLst/>
                <a:latin typeface="Trebuchet MS" panose="020B0603020202020204" pitchFamily="34" charset="0"/>
              </a:rPr>
              <a:t>数据预处理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85985" y="365486"/>
            <a:ext cx="816082" cy="74982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17194" y="1735349"/>
            <a:ext cx="6097022" cy="336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统一化处理</a:t>
            </a:r>
            <a:endParaRPr lang="en-US" altLang="zh-CN" b="0" i="0" dirty="0">
              <a:solidFill>
                <a:srgbClr val="444444"/>
              </a:solidFill>
              <a:effectLst/>
              <a:latin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inherit"/>
              </a:rPr>
              <a:t>采用随机裁剪、旋转、翻转等数据增强方法，扩充训练数据集，提高模型的泛化能力。</a:t>
            </a:r>
            <a:endParaRPr lang="en-US" altLang="zh-CN" b="0" i="0" dirty="0">
              <a:effectLst/>
              <a:latin typeface="inheri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创建数据加载器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inherit"/>
              </a:rPr>
              <a:t>进阶：</a:t>
            </a:r>
            <a:endParaRPr lang="en-US" altLang="zh-CN" b="0" i="0" dirty="0">
              <a:effectLst/>
              <a:latin typeface="inherit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实现人脸检测与对齐（建议工具：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MTCNN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）</a:t>
            </a:r>
            <a:endParaRPr lang="en-US" altLang="zh-CN" b="0" i="0" dirty="0">
              <a:solidFill>
                <a:srgbClr val="444444"/>
              </a:solidFill>
              <a:effectLst/>
              <a:latin typeface="Verdana" panose="020B060403050404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44444"/>
                </a:solidFill>
                <a:latin typeface="Verdana" panose="020B0604030504040204" pitchFamily="34" charset="0"/>
              </a:rPr>
              <a:t>扩展数据集</a:t>
            </a:r>
            <a:endParaRPr lang="zh-CN" altLang="en-US" b="0" i="0" dirty="0">
              <a:effectLst/>
              <a:latin typeface="inherit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444444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23060" y="511715"/>
            <a:ext cx="4753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i="0" dirty="0">
                <a:solidFill>
                  <a:srgbClr val="444444"/>
                </a:solidFill>
                <a:effectLst/>
                <a:latin typeface="Trebuchet MS" panose="020B0603020202020204" pitchFamily="34" charset="0"/>
              </a:rPr>
              <a:t>模型构建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85985" y="365486"/>
            <a:ext cx="816082" cy="74982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17194" y="1735349"/>
            <a:ext cx="6097022" cy="2782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基础要求：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CNN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架构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进阶：</a:t>
            </a:r>
          </a:p>
          <a:p>
            <a:pPr marL="742950" lvl="1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ResNet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架构等</a:t>
            </a:r>
          </a:p>
          <a:p>
            <a:pPr marL="742950" lvl="1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尝试</a:t>
            </a:r>
            <a:r>
              <a:rPr lang="en-US" altLang="zh-CN" b="0" i="0" dirty="0" err="1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ArcFace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等损失函数</a:t>
            </a:r>
          </a:p>
          <a:p>
            <a:pPr marL="742950" lvl="1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44444"/>
                </a:solidFill>
                <a:latin typeface="Verdana" panose="020B0604030504040204" pitchFamily="34" charset="0"/>
              </a:rPr>
              <a:t>使用预训练模型如</a:t>
            </a:r>
            <a:r>
              <a:rPr lang="en-US" altLang="zh-CN" dirty="0" err="1">
                <a:solidFill>
                  <a:srgbClr val="444444"/>
                </a:solidFill>
                <a:latin typeface="Verdana" panose="020B0604030504040204" pitchFamily="34" charset="0"/>
              </a:rPr>
              <a:t>FaceNet</a:t>
            </a:r>
            <a:endParaRPr lang="en-US" altLang="zh-CN" b="0" i="0" dirty="0">
              <a:solidFill>
                <a:srgbClr val="444444"/>
              </a:solidFill>
              <a:effectLst/>
              <a:latin typeface="Verdan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23060" y="511715"/>
            <a:ext cx="4753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i="0" dirty="0">
                <a:solidFill>
                  <a:srgbClr val="444444"/>
                </a:solidFill>
                <a:effectLst/>
                <a:latin typeface="Trebuchet MS" panose="020B0603020202020204" pitchFamily="34" charset="0"/>
              </a:rPr>
              <a:t>训练流程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85985" y="365486"/>
            <a:ext cx="816082" cy="74982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17194" y="1735349"/>
            <a:ext cx="6097022" cy="1674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损失函数</a:t>
            </a:r>
            <a:r>
              <a:rPr lang="zh-CN" altLang="en-US" dirty="0">
                <a:solidFill>
                  <a:srgbClr val="444444"/>
                </a:solidFill>
                <a:latin typeface="Verdana" panose="020B0604030504040204" pitchFamily="34" charset="0"/>
              </a:rPr>
              <a:t>设计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：如交叉熵 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+ Focal Loss</a:t>
            </a:r>
            <a:endParaRPr lang="zh-CN" altLang="en-US" b="0" i="0" dirty="0">
              <a:solidFill>
                <a:srgbClr val="444444"/>
              </a:solidFill>
              <a:effectLst/>
              <a:latin typeface="Verdana" panose="020B0604030504040204" pitchFamily="34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优化器</a:t>
            </a:r>
            <a:r>
              <a:rPr lang="zh-CN" altLang="en-US" dirty="0">
                <a:solidFill>
                  <a:srgbClr val="444444"/>
                </a:solidFill>
                <a:latin typeface="Verdana" panose="020B0604030504040204" pitchFamily="34" charset="0"/>
              </a:rPr>
              <a:t>选择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：如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Adam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等</a:t>
            </a:r>
            <a:endParaRPr lang="en-US" altLang="zh-CN" b="0" i="0" dirty="0">
              <a:solidFill>
                <a:srgbClr val="444444"/>
              </a:solidFill>
              <a:effectLst/>
              <a:latin typeface="Verdana" panose="020B0604030504040204" pitchFamily="34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训练参数设置：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epochs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，</a:t>
            </a:r>
            <a:r>
              <a:rPr lang="zh-CN" altLang="en-US" b="0" i="0" dirty="0">
                <a:effectLst/>
                <a:latin typeface="-apple-system"/>
              </a:rPr>
              <a:t>定期保存模型权重等</a:t>
            </a:r>
            <a:endParaRPr lang="en-US" altLang="zh-CN" b="0" i="0" dirty="0">
              <a:solidFill>
                <a:srgbClr val="444444"/>
              </a:solidFill>
              <a:effectLst/>
              <a:latin typeface="Verdan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23060" y="511715"/>
            <a:ext cx="4753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i="0" dirty="0">
                <a:solidFill>
                  <a:srgbClr val="444444"/>
                </a:solidFill>
                <a:effectLst/>
                <a:latin typeface="Trebuchet MS" panose="020B0603020202020204" pitchFamily="34" charset="0"/>
              </a:rPr>
              <a:t>测试验证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85985" y="365486"/>
            <a:ext cx="816082" cy="74982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17194" y="1735349"/>
            <a:ext cx="6097022" cy="2228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计算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LFW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数据集准确率（必做）</a:t>
            </a:r>
            <a:endParaRPr lang="en-US" altLang="zh-CN" b="0" i="0" dirty="0">
              <a:solidFill>
                <a:srgbClr val="444444"/>
              </a:solidFill>
              <a:effectLst/>
              <a:latin typeface="Verdana" panose="020B0604030504040204" pitchFamily="34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44444"/>
                </a:solidFill>
                <a:latin typeface="Verdana" panose="020B0604030504040204" pitchFamily="34" charset="0"/>
              </a:rPr>
              <a:t>进阶：</a:t>
            </a:r>
            <a:endParaRPr lang="zh-CN" altLang="en-US" b="0" i="0" dirty="0">
              <a:solidFill>
                <a:srgbClr val="444444"/>
              </a:solidFill>
              <a:effectLst/>
              <a:latin typeface="Verdana" panose="020B0604030504040204" pitchFamily="34" charset="0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绘制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ROC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曲线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生成混淆矩阵等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03122" y="449824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rgbClr val="02615A">
                <a:alpha val="3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887301" y="2420811"/>
            <a:ext cx="1592179" cy="1592179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chemeClr val="bg1"/>
                </a:solidFill>
                <a:latin typeface="FuturaBookC" charset="-52"/>
              </a:rPr>
              <a:t>3</a:t>
            </a:r>
            <a:endParaRPr lang="zh-CN" altLang="en-US" sz="13800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76985" y="2420811"/>
            <a:ext cx="43417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solidFill>
                  <a:srgbClr val="1C488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评分标准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4663554" y="3428999"/>
            <a:ext cx="111240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557385" y="768455"/>
            <a:ext cx="816082" cy="7490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23060" y="511715"/>
            <a:ext cx="4753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i="0" dirty="0">
                <a:solidFill>
                  <a:srgbClr val="444444"/>
                </a:solidFill>
                <a:effectLst/>
                <a:latin typeface="Trebuchet MS" panose="020B0603020202020204" pitchFamily="34" charset="0"/>
              </a:rPr>
              <a:t>测试验证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85985" y="365486"/>
            <a:ext cx="816082" cy="74982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98855" y="1718310"/>
            <a:ext cx="9131300" cy="3830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基础实现（</a:t>
            </a:r>
            <a:r>
              <a:rPr lang="en-US" altLang="zh-CN" b="1" dirty="0">
                <a:solidFill>
                  <a:srgbClr val="444444"/>
                </a:solidFill>
                <a:latin typeface="Verdana" panose="020B0604030504040204" pitchFamily="34" charset="0"/>
              </a:rPr>
              <a:t>5</a:t>
            </a:r>
            <a:r>
              <a:rPr lang="en-US" altLang="zh-CN" b="1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0%</a:t>
            </a:r>
            <a:r>
              <a:rPr lang="zh-CN" altLang="en-US" b="1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）</a:t>
            </a:r>
            <a:endParaRPr lang="zh-CN" altLang="en-US" b="0" i="0" dirty="0">
              <a:solidFill>
                <a:srgbClr val="444444"/>
              </a:solidFill>
              <a:effectLst/>
              <a:latin typeface="Verdana" panose="020B0604030504040204" pitchFamily="34" charset="0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完整训练流程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≥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85% LFW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测试准确率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b="1" i="0" dirty="0">
              <a:solidFill>
                <a:srgbClr val="444444"/>
              </a:solidFill>
              <a:effectLst/>
              <a:latin typeface="Verdana" panose="020B060403050404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b="1" i="0" dirty="0">
              <a:solidFill>
                <a:srgbClr val="444444"/>
              </a:solidFill>
              <a:effectLst/>
              <a:latin typeface="Verdana" panose="020B060403050404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创新优化（</a:t>
            </a:r>
            <a:r>
              <a:rPr lang="en-US" altLang="zh-CN" b="1" dirty="0">
                <a:solidFill>
                  <a:srgbClr val="444444"/>
                </a:solidFill>
                <a:latin typeface="Verdana" panose="020B0604030504040204" pitchFamily="34" charset="0"/>
              </a:rPr>
              <a:t>20</a:t>
            </a:r>
            <a:r>
              <a:rPr lang="en-US" altLang="zh-CN" b="1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%</a:t>
            </a:r>
            <a:r>
              <a:rPr lang="zh-CN" altLang="en-US" b="1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）</a:t>
            </a:r>
            <a:endParaRPr lang="zh-CN" altLang="en-US" b="0" i="0" dirty="0">
              <a:solidFill>
                <a:srgbClr val="444444"/>
              </a:solidFill>
              <a:effectLst/>
              <a:latin typeface="Verdana" panose="020B0604030504040204" pitchFamily="34" charset="0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改进模型架构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超参数调优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可视化分析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505045" y="1718151"/>
            <a:ext cx="3399615" cy="2168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444444"/>
                </a:solidFill>
                <a:latin typeface="Verdana" panose="020B0604030504040204" pitchFamily="34" charset="0"/>
              </a:rPr>
              <a:t>汇报</a:t>
            </a:r>
            <a:r>
              <a:rPr lang="zh-CN" altLang="en-US" b="1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质量（</a:t>
            </a:r>
            <a:r>
              <a:rPr lang="en-US" altLang="zh-CN" b="1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30%</a:t>
            </a:r>
            <a:r>
              <a:rPr lang="zh-CN" altLang="en-US" b="1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）</a:t>
            </a:r>
            <a:endParaRPr lang="zh-CN" altLang="en-US" b="0" i="0" dirty="0">
              <a:solidFill>
                <a:srgbClr val="444444"/>
              </a:solidFill>
              <a:effectLst/>
              <a:latin typeface="Verdana" panose="020B0604030504040204" pitchFamily="34" charset="0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实验设计合理性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结果分析的深度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PPT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质量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项目报告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03122" y="449824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rgbClr val="02615A">
                <a:alpha val="3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887301" y="2420811"/>
            <a:ext cx="1592179" cy="1592179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chemeClr val="bg1"/>
                </a:solidFill>
                <a:latin typeface="FuturaBookC" charset="-52"/>
              </a:rPr>
              <a:t>4</a:t>
            </a:r>
            <a:endParaRPr lang="zh-CN" altLang="en-US" sz="13800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76985" y="2420811"/>
            <a:ext cx="57603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dirty="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汇报要求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4663554" y="3428999"/>
            <a:ext cx="111240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557385" y="768455"/>
            <a:ext cx="816082" cy="7490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23060" y="511715"/>
            <a:ext cx="4753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i="0" dirty="0">
                <a:solidFill>
                  <a:srgbClr val="444444"/>
                </a:solidFill>
                <a:effectLst/>
                <a:latin typeface="Trebuchet MS" panose="020B0603020202020204" pitchFamily="34" charset="0"/>
              </a:rPr>
              <a:t>汇报要求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85985" y="365486"/>
            <a:ext cx="816082" cy="7498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307360" y="2075530"/>
            <a:ext cx="4554975" cy="2168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代码和项目报告提交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：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完整可执行代码（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.</a:t>
            </a:r>
            <a:r>
              <a:rPr lang="en-US" altLang="zh-CN" b="0" i="0" dirty="0" err="1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ipynb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或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.</a:t>
            </a:r>
            <a:r>
              <a:rPr lang="en-US" altLang="zh-CN" b="0" i="0" dirty="0" err="1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py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）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注明环境依赖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模型文件（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.</a:t>
            </a:r>
            <a:r>
              <a:rPr lang="en-US" altLang="zh-CN" b="0" i="0" dirty="0" err="1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pth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或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.h5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）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项目报告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96413" y="2075530"/>
            <a:ext cx="4554975" cy="133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小组汇报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：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汇报时长控制在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15</a:t>
            </a:r>
            <a:r>
              <a:rPr lang="zh-CN" altLang="en-US" dirty="0">
                <a:solidFill>
                  <a:srgbClr val="444444"/>
                </a:solidFill>
                <a:latin typeface="Verdana" panose="020B0604030504040204" pitchFamily="34" charset="0"/>
              </a:rPr>
              <a:t>分钟以内</a:t>
            </a:r>
            <a:endParaRPr lang="en-US" altLang="zh-CN" dirty="0">
              <a:solidFill>
                <a:srgbClr val="444444"/>
              </a:solidFill>
              <a:latin typeface="Verdana" panose="020B0604030504040204" pitchFamily="34" charset="0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44444"/>
                </a:solidFill>
                <a:latin typeface="Verdana" panose="020B0604030504040204" pitchFamily="34" charset="0"/>
              </a:rPr>
              <a:t>成员分工介绍自己的工作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蓝色简洁毕业答辩PPT模板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</Words>
  <Application>Microsoft Office PowerPoint</Application>
  <PresentationFormat>宽屏</PresentationFormat>
  <Paragraphs>94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-apple-system</vt:lpstr>
      <vt:lpstr>FuturaBookC</vt:lpstr>
      <vt:lpstr>FZZhengHeiS-DB-GB</vt:lpstr>
      <vt:lpstr>inherit</vt:lpstr>
      <vt:lpstr>等线</vt:lpstr>
      <vt:lpstr>等线 Light</vt:lpstr>
      <vt:lpstr>黑体</vt:lpstr>
      <vt:lpstr>Arial</vt:lpstr>
      <vt:lpstr>Trebuchet MS</vt:lpstr>
      <vt:lpstr>Verdana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kan</dc:creator>
  <dc:description>http://www.ypppt.com/</dc:description>
  <cp:lastModifiedBy>迪 喻</cp:lastModifiedBy>
  <cp:revision>79</cp:revision>
  <dcterms:created xsi:type="dcterms:W3CDTF">2018-02-27T12:12:00Z</dcterms:created>
  <dcterms:modified xsi:type="dcterms:W3CDTF">2026-05-19T10:29:44Z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2F1643F9860A47E8AEECF579AC61A6F6_12</vt:lpwstr>
  </property>
  <property fmtid="{D5CDD505-2E9C-101B-9397-08002B2CF9AE}" pid="3" name="KSOProductBuildVer">
    <vt:lpwstr>2052-12.1.0.22215</vt:lpwstr>
  </property>
</Properties>
</file>